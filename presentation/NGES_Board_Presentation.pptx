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2011680"/>
            <a:ext cx="10515600" cy="3200400"/>
          </a:xfrm>
          <a:prstGeom prst="rect">
            <a:avLst/>
          </a:prstGeom>
          <a:noFill/>
        </p:spPr>
        <p:txBody>
          <a:bodyPr wrap="square">
            <a:spAutoFit/>
          </a:bodyPr>
          <a:lstStyle/>
          <a:p>
            <a:pPr algn="l">
              <a:spcAft>
                <a:spcPts val="1000"/>
              </a:spcAft>
            </a:pPr>
            <a:r>
              <a:rPr sz="1300" b="1">
                <a:solidFill>
                  <a:srgbClr val="2A78D6"/>
                </a:solidFill>
                <a:latin typeface="Segoe UI"/>
              </a:rPr>
              <a:t>NORTHGRID ENERGY SERVICES  |  BOARD OF DIRECTORS</a:t>
            </a:r>
          </a:p>
          <a:p>
            <a:pPr algn="l">
              <a:spcAft>
                <a:spcPts val="800"/>
              </a:spcAft>
            </a:pPr>
            <a:r>
              <a:rPr sz="4000" b="1">
                <a:solidFill>
                  <a:srgbClr val="0B0B0B"/>
                </a:solidFill>
                <a:latin typeface="Segoe UI"/>
              </a:rPr>
              <a:t>From Demand Volatility to Measurable Value</a:t>
            </a:r>
          </a:p>
          <a:p>
            <a:pPr algn="l">
              <a:spcAft>
                <a:spcPts val="2400"/>
              </a:spcAft>
            </a:pPr>
            <a:r>
              <a:rPr sz="1700" b="0">
                <a:solidFill>
                  <a:srgbClr val="52514E"/>
                </a:solidFill>
                <a:latin typeface="Segoe UI"/>
              </a:rPr>
              <a:t>Findings and recommendations of the Data Science Consulting engagement</a:t>
            </a:r>
          </a:p>
          <a:p>
            <a:pPr algn="l">
              <a:spcAft>
                <a:spcPts val="600"/>
              </a:spcAft>
            </a:pPr>
            <a:r>
              <a:rPr sz="1300" b="0">
                <a:solidFill>
                  <a:srgbClr val="898781"/>
                </a:solidFill>
                <a:latin typeface="Segoe UI"/>
              </a:rPr>
              <a:t>Ujwal Dasari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2A78D6"/>
                </a:solidFill>
                <a:latin typeface="Segoe UI"/>
              </a:rPr>
              <a:t>SECTION 1</a:t>
            </a:r>
          </a:p>
          <a:p>
            <a:pPr algn="l">
              <a:spcAft>
                <a:spcPts val="600"/>
              </a:spcAft>
            </a:pPr>
            <a:r>
              <a:rPr sz="2600" b="1">
                <a:solidFill>
                  <a:srgbClr val="0B0B0B"/>
                </a:solidFill>
                <a:latin typeface="Segoe UI"/>
              </a:rPr>
              <a:t>Executive summary: three fixes fund themselves</a:t>
            </a:r>
          </a:p>
        </p:txBody>
      </p:sp>
      <p:sp>
        <p:nvSpPr>
          <p:cNvPr id="3" name="Rectangle 2"/>
          <p:cNvSpPr/>
          <p:nvPr/>
        </p:nvSpPr>
        <p:spPr>
          <a:xfrm>
            <a:off x="594360" y="1389888"/>
            <a:ext cx="146304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6675120" cy="4572000"/>
          </a:xfrm>
          <a:prstGeom prst="rect">
            <a:avLst/>
          </a:prstGeom>
          <a:noFill/>
        </p:spPr>
        <p:txBody>
          <a:bodyPr wrap="square">
            <a:spAutoFit/>
          </a:bodyPr>
          <a:lstStyle/>
          <a:p>
            <a:pPr algn="l">
              <a:spcAft>
                <a:spcPts val="200"/>
              </a:spcAft>
            </a:pPr>
            <a:r>
              <a:rPr sz="1500" b="1">
                <a:solidFill>
                  <a:srgbClr val="0B0B0B"/>
                </a:solidFill>
                <a:latin typeface="Segoe UI"/>
              </a:rPr>
              <a:t>The problem</a:t>
            </a:r>
          </a:p>
          <a:p>
            <a:pPr algn="l">
              <a:spcAft>
                <a:spcPts val="1000"/>
              </a:spcAft>
            </a:pPr>
            <a:r>
              <a:rPr sz="1400" b="0">
                <a:solidFill>
                  <a:srgbClr val="52514E"/>
                </a:solidFill>
                <a:latin typeface="Segoe UI"/>
              </a:rPr>
              <a:t>Peak demand events grew from 14 (2022) to 34 (2025). Leadership estimates $95-120M of exposure. Forecasting, infrastructure, and demand response are managed separately.</a:t>
            </a:r>
          </a:p>
          <a:p>
            <a:pPr algn="l">
              <a:spcAft>
                <a:spcPts val="200"/>
              </a:spcAft>
            </a:pPr>
            <a:r>
              <a:rPr sz="1500" b="1">
                <a:solidFill>
                  <a:srgbClr val="0B0B0B"/>
                </a:solidFill>
                <a:latin typeface="Segoe UI"/>
              </a:rPr>
              <a:t>What your data shows</a:t>
            </a:r>
          </a:p>
          <a:p>
            <a:pPr algn="l">
              <a:spcAft>
                <a:spcPts val="1000"/>
              </a:spcAft>
            </a:pPr>
            <a:r>
              <a:rPr sz="1400" b="0">
                <a:solidFill>
                  <a:srgbClr val="52514E"/>
                </a:solidFill>
                <a:latin typeface="Segoe UI"/>
              </a:rPr>
              <a:t>Weather is not the driver - demand spikes when residential, commercial, and industrial customer loads peak together. Risk is concentrated: 31 of 500 substations are critical. Demand response works, but the least efficient quarter of events consumed $141M for 10% of the results.</a:t>
            </a:r>
          </a:p>
          <a:p>
            <a:pPr algn="l">
              <a:spcAft>
                <a:spcPts val="200"/>
              </a:spcAft>
            </a:pPr>
            <a:r>
              <a:rPr sz="1500" b="1">
                <a:solidFill>
                  <a:srgbClr val="0B0B0B"/>
                </a:solidFill>
                <a:latin typeface="Segoe UI"/>
              </a:rPr>
              <a:t>What we recommend</a:t>
            </a:r>
          </a:p>
          <a:p>
            <a:pPr algn="l">
              <a:spcAft>
                <a:spcPts val="1000"/>
              </a:spcAft>
            </a:pPr>
            <a:r>
              <a:rPr sz="1400" b="0">
                <a:solidFill>
                  <a:srgbClr val="52514E"/>
                </a:solidFill>
                <a:latin typeface="Segoe UI"/>
              </a:rPr>
              <a:t>1) Fix demand response execution.  2) Target capital at the 31 critical substations.  3) Upgrade forecasting to a customer-segment model that warns of peaks before they arrive.</a:t>
            </a:r>
          </a:p>
        </p:txBody>
      </p:sp>
      <p:sp>
        <p:nvSpPr>
          <p:cNvPr id="5" name="TextBox 4"/>
          <p:cNvSpPr txBox="1"/>
          <p:nvPr/>
        </p:nvSpPr>
        <p:spPr>
          <a:xfrm>
            <a:off x="594360" y="5394960"/>
            <a:ext cx="2560320" cy="1097280"/>
          </a:xfrm>
          <a:prstGeom prst="rect">
            <a:avLst/>
          </a:prstGeom>
          <a:noFill/>
        </p:spPr>
        <p:txBody>
          <a:bodyPr wrap="square">
            <a:spAutoFit/>
          </a:bodyPr>
          <a:lstStyle/>
          <a:p>
            <a:pPr algn="l">
              <a:spcAft>
                <a:spcPts val="0"/>
              </a:spcAft>
            </a:pPr>
            <a:r>
              <a:rPr sz="2600" b="1">
                <a:solidFill>
                  <a:srgbClr val="1BAF7A"/>
                </a:solidFill>
                <a:latin typeface="Segoe UI"/>
              </a:rPr>
              <a:t>$45.8M/yr</a:t>
            </a:r>
          </a:p>
          <a:p>
            <a:pPr algn="l">
              <a:spcAft>
                <a:spcPts val="600"/>
              </a:spcAft>
            </a:pPr>
            <a:r>
              <a:rPr sz="1100" b="0">
                <a:solidFill>
                  <a:srgbClr val="898781"/>
                </a:solidFill>
                <a:latin typeface="Segoe UI"/>
              </a:rPr>
              <a:t>expected value of recommendations</a:t>
            </a:r>
          </a:p>
        </p:txBody>
      </p:sp>
      <p:sp>
        <p:nvSpPr>
          <p:cNvPr id="6" name="TextBox 5"/>
          <p:cNvSpPr txBox="1"/>
          <p:nvPr/>
        </p:nvSpPr>
        <p:spPr>
          <a:xfrm>
            <a:off x="3337560" y="5394960"/>
            <a:ext cx="2560320" cy="1097280"/>
          </a:xfrm>
          <a:prstGeom prst="rect">
            <a:avLst/>
          </a:prstGeom>
          <a:noFill/>
        </p:spPr>
        <p:txBody>
          <a:bodyPr wrap="square">
            <a:spAutoFit/>
          </a:bodyPr>
          <a:lstStyle/>
          <a:p>
            <a:pPr algn="l">
              <a:spcAft>
                <a:spcPts val="0"/>
              </a:spcAft>
            </a:pPr>
            <a:r>
              <a:rPr sz="2600" b="1">
                <a:solidFill>
                  <a:srgbClr val="2A78D6"/>
                </a:solidFill>
                <a:latin typeface="Segoe UI"/>
              </a:rPr>
              <a:t>&lt; 1 year</a:t>
            </a:r>
          </a:p>
          <a:p>
            <a:pPr algn="l">
              <a:spcAft>
                <a:spcPts val="600"/>
              </a:spcAft>
            </a:pPr>
            <a:r>
              <a:rPr sz="1100" b="0">
                <a:solidFill>
                  <a:srgbClr val="898781"/>
                </a:solidFill>
                <a:latin typeface="Segoe UI"/>
              </a:rPr>
              <a:t>payback on ~$8M implementation</a:t>
            </a:r>
          </a:p>
        </p:txBody>
      </p:sp>
      <p:sp>
        <p:nvSpPr>
          <p:cNvPr id="7" name="TextBox 6"/>
          <p:cNvSpPr txBox="1"/>
          <p:nvPr/>
        </p:nvSpPr>
        <p:spPr>
          <a:xfrm>
            <a:off x="6080760" y="5394960"/>
            <a:ext cx="2560320" cy="1097280"/>
          </a:xfrm>
          <a:prstGeom prst="rect">
            <a:avLst/>
          </a:prstGeom>
          <a:noFill/>
        </p:spPr>
        <p:txBody>
          <a:bodyPr wrap="square">
            <a:spAutoFit/>
          </a:bodyPr>
          <a:lstStyle/>
          <a:p>
            <a:pPr algn="l">
              <a:spcAft>
                <a:spcPts val="0"/>
              </a:spcAft>
            </a:pPr>
            <a:r>
              <a:rPr sz="2600" b="1">
                <a:solidFill>
                  <a:srgbClr val="EB6834"/>
                </a:solidFill>
                <a:latin typeface="Segoe UI"/>
              </a:rPr>
              <a:t>$98.5M</a:t>
            </a:r>
          </a:p>
          <a:p>
            <a:pPr algn="l">
              <a:spcAft>
                <a:spcPts val="600"/>
              </a:spcAft>
            </a:pPr>
            <a:r>
              <a:rPr sz="1100" b="0">
                <a:solidFill>
                  <a:srgbClr val="898781"/>
                </a:solidFill>
                <a:latin typeface="Segoe UI"/>
              </a:rPr>
              <a:t>recoverable from DR spend alone</a:t>
            </a:r>
          </a:p>
        </p:txBody>
      </p:sp>
      <p:sp>
        <p:nvSpPr>
          <p:cNvPr id="8" name="TextBox 7"/>
          <p:cNvSpPr txBox="1"/>
          <p:nvPr/>
        </p:nvSpPr>
        <p:spPr>
          <a:xfrm>
            <a:off x="8823960" y="5394960"/>
            <a:ext cx="2560320" cy="1097280"/>
          </a:xfrm>
          <a:prstGeom prst="rect">
            <a:avLst/>
          </a:prstGeom>
          <a:noFill/>
        </p:spPr>
        <p:txBody>
          <a:bodyPr wrap="square">
            <a:spAutoFit/>
          </a:bodyPr>
          <a:lstStyle/>
          <a:p>
            <a:pPr algn="l">
              <a:spcAft>
                <a:spcPts val="0"/>
              </a:spcAft>
            </a:pPr>
            <a:r>
              <a:rPr sz="2600" b="1">
                <a:solidFill>
                  <a:srgbClr val="D03B3B"/>
                </a:solidFill>
                <a:latin typeface="Segoe UI"/>
              </a:rPr>
              <a:t>31</a:t>
            </a:r>
          </a:p>
          <a:p>
            <a:pPr algn="l">
              <a:spcAft>
                <a:spcPts val="600"/>
              </a:spcAft>
            </a:pPr>
            <a:r>
              <a:rPr sz="1100" b="0">
                <a:solidFill>
                  <a:srgbClr val="898781"/>
                </a:solidFill>
                <a:latin typeface="Segoe UI"/>
              </a:rPr>
              <a:t>substations needing priority capital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2A78D6"/>
                </a:solidFill>
                <a:latin typeface="Segoe UI"/>
              </a:rPr>
              <a:t>SECTION 2</a:t>
            </a:r>
          </a:p>
          <a:p>
            <a:pPr algn="l">
              <a:spcAft>
                <a:spcPts val="600"/>
              </a:spcAft>
            </a:pPr>
            <a:r>
              <a:rPr sz="2600" b="1">
                <a:solidFill>
                  <a:srgbClr val="0B0B0B"/>
                </a:solidFill>
                <a:latin typeface="Segoe UI"/>
              </a:rPr>
              <a:t>Peak events keep climbing - and each one is expensive</a:t>
            </a:r>
          </a:p>
        </p:txBody>
      </p:sp>
      <p:sp>
        <p:nvSpPr>
          <p:cNvPr id="3" name="Rectangle 2"/>
          <p:cNvSpPr/>
          <p:nvPr/>
        </p:nvSpPr>
        <p:spPr>
          <a:xfrm>
            <a:off x="594360" y="1389888"/>
            <a:ext cx="146304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2.4x growth in four years</a:t>
            </a:r>
          </a:p>
          <a:p>
            <a:pPr algn="l">
              <a:spcAft>
                <a:spcPts val="1000"/>
              </a:spcAft>
            </a:pPr>
            <a:r>
              <a:rPr sz="1400" b="0">
                <a:solidFill>
                  <a:srgbClr val="52514E"/>
                </a:solidFill>
                <a:latin typeface="Segoe UI"/>
              </a:rPr>
              <a:t>Peak events force emergency power purchases at premium prices and push aging equipment past its comfort zone.</a:t>
            </a:r>
          </a:p>
          <a:p>
            <a:pPr algn="l">
              <a:spcAft>
                <a:spcPts val="200"/>
              </a:spcAft>
            </a:pPr>
            <a:r>
              <a:rPr sz="1500" b="1">
                <a:solidFill>
                  <a:srgbClr val="0B0B0B"/>
                </a:solidFill>
                <a:latin typeface="Segoe UI"/>
              </a:rPr>
              <a:t>Stable customers, volatile demand</a:t>
            </a:r>
          </a:p>
          <a:p>
            <a:pPr algn="l">
              <a:spcAft>
                <a:spcPts val="1000"/>
              </a:spcAft>
            </a:pPr>
            <a:r>
              <a:rPr sz="1400" b="0">
                <a:solidFill>
                  <a:srgbClr val="52514E"/>
                </a:solidFill>
                <a:latin typeface="Segoe UI"/>
              </a:rPr>
              <a:t>Customer growth has been steady. Volatility is coming from how demand behaves, not how many customers you serve.</a:t>
            </a:r>
          </a:p>
          <a:p>
            <a:pPr algn="l">
              <a:spcAft>
                <a:spcPts val="200"/>
              </a:spcAft>
            </a:pPr>
            <a:r>
              <a:rPr sz="1500" b="1">
                <a:solidFill>
                  <a:srgbClr val="0B0B0B"/>
                </a:solidFill>
                <a:latin typeface="Segoe UI"/>
              </a:rPr>
              <a:t>$95-120M exposure</a:t>
            </a:r>
          </a:p>
          <a:p>
            <a:pPr algn="l">
              <a:spcAft>
                <a:spcPts val="1000"/>
              </a:spcAft>
            </a:pPr>
            <a:r>
              <a:rPr sz="1400" b="0">
                <a:solidFill>
                  <a:srgbClr val="52514E"/>
                </a:solidFill>
                <a:latin typeface="Segoe UI"/>
              </a:rPr>
              <a:t>Leadership's own estimate across emergency purchases, deferred maintenance, upgrades, and regulatory risk.</a:t>
            </a:r>
          </a:p>
          <a:p>
            <a:pPr algn="l">
              <a:spcAft>
                <a:spcPts val="200"/>
              </a:spcAft>
            </a:pPr>
            <a:r>
              <a:rPr sz="1500" b="1">
                <a:solidFill>
                  <a:srgbClr val="0B0B0B"/>
                </a:solidFill>
                <a:latin typeface="Segoe UI"/>
              </a:rPr>
              <a:t>Why now</a:t>
            </a:r>
          </a:p>
          <a:p>
            <a:pPr algn="l">
              <a:spcAft>
                <a:spcPts val="1000"/>
              </a:spcAft>
            </a:pPr>
            <a:r>
              <a:rPr sz="1400" b="0">
                <a:solidFill>
                  <a:srgbClr val="52514E"/>
                </a:solidFill>
                <a:latin typeface="Segoe UI"/>
              </a:rPr>
              <a:t>Planning decisions for the next 3-5 year capital cycle are being made on tools that no longer explain what is happening.</a:t>
            </a:r>
          </a:p>
        </p:txBody>
      </p:sp>
      <p:pic>
        <p:nvPicPr>
          <p:cNvPr id="5" name="Picture 4" descr="01_peak_events_by_year.png"/>
          <p:cNvPicPr>
            <a:picLocks noChangeAspect="1"/>
          </p:cNvPicPr>
          <p:nvPr/>
        </p:nvPicPr>
        <p:blipFill>
          <a:blip r:embed="rId2"/>
          <a:stretch>
            <a:fillRect/>
          </a:stretch>
        </p:blipFill>
        <p:spPr>
          <a:xfrm>
            <a:off x="6035040" y="1920240"/>
            <a:ext cx="5577840" cy="349048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2A78D6"/>
                </a:solidFill>
                <a:latin typeface="Segoe UI"/>
              </a:rPr>
              <a:t>SECTION 3</a:t>
            </a:r>
          </a:p>
          <a:p>
            <a:pPr algn="l">
              <a:spcAft>
                <a:spcPts val="600"/>
              </a:spcAft>
            </a:pPr>
            <a:r>
              <a:rPr sz="2600" b="1">
                <a:solidFill>
                  <a:srgbClr val="0B0B0B"/>
                </a:solidFill>
                <a:latin typeface="Segoe UI"/>
              </a:rPr>
              <a:t>What we analyzed: three years of your own operations</a:t>
            </a:r>
          </a:p>
        </p:txBody>
      </p:sp>
      <p:sp>
        <p:nvSpPr>
          <p:cNvPr id="3" name="Rectangle 2"/>
          <p:cNvSpPr/>
          <p:nvPr/>
        </p:nvSpPr>
        <p:spPr>
          <a:xfrm>
            <a:off x="594360" y="1389888"/>
            <a:ext cx="146304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394960" cy="4572000"/>
          </a:xfrm>
          <a:prstGeom prst="rect">
            <a:avLst/>
          </a:prstGeom>
          <a:noFill/>
        </p:spPr>
        <p:txBody>
          <a:bodyPr wrap="square">
            <a:spAutoFit/>
          </a:bodyPr>
          <a:lstStyle/>
          <a:p>
            <a:pPr algn="l">
              <a:spcAft>
                <a:spcPts val="200"/>
              </a:spcAft>
            </a:pPr>
            <a:r>
              <a:rPr sz="1500" b="1">
                <a:solidFill>
                  <a:srgbClr val="0B0B0B"/>
                </a:solidFill>
                <a:latin typeface="Segoe UI"/>
              </a:rPr>
              <a:t>Hourly demand &amp; forecasts</a:t>
            </a:r>
          </a:p>
          <a:p>
            <a:pPr algn="l">
              <a:spcAft>
                <a:spcPts val="1000"/>
              </a:spcAft>
            </a:pPr>
            <a:r>
              <a:rPr sz="1400" b="0">
                <a:solidFill>
                  <a:srgbClr val="52514E"/>
                </a:solidFill>
                <a:latin typeface="Segoe UI"/>
              </a:rPr>
              <a:t>25,000 hourly records, Jan 2023 - Nov 2025, across all five regions: demand, weather, customer loads, forecasts, and peak events.</a:t>
            </a:r>
          </a:p>
          <a:p>
            <a:pPr algn="l">
              <a:spcAft>
                <a:spcPts val="200"/>
              </a:spcAft>
            </a:pPr>
            <a:r>
              <a:rPr sz="1500" b="1">
                <a:solidFill>
                  <a:srgbClr val="0B0B0B"/>
                </a:solidFill>
                <a:latin typeface="Segoe UI"/>
              </a:rPr>
              <a:t>Infrastructure risk &amp; planning</a:t>
            </a:r>
          </a:p>
          <a:p>
            <a:pPr algn="l">
              <a:spcAft>
                <a:spcPts val="1000"/>
              </a:spcAft>
            </a:pPr>
            <a:r>
              <a:rPr sz="1400" b="0">
                <a:solidFill>
                  <a:srgbClr val="52514E"/>
                </a:solidFill>
                <a:latin typeface="Segoe UI"/>
              </a:rPr>
              <a:t>All 500 substations: age, capacity, utilization, outage history, load growth projections, and risk scores.</a:t>
            </a:r>
          </a:p>
          <a:p>
            <a:pPr algn="l">
              <a:spcAft>
                <a:spcPts val="200"/>
              </a:spcAft>
            </a:pPr>
            <a:r>
              <a:rPr sz="1500" b="1">
                <a:solidFill>
                  <a:srgbClr val="0B0B0B"/>
                </a:solidFill>
                <a:latin typeface="Segoe UI"/>
              </a:rPr>
              <a:t>Demand response results</a:t>
            </a:r>
          </a:p>
          <a:p>
            <a:pPr algn="l">
              <a:spcAft>
                <a:spcPts val="1000"/>
              </a:spcAft>
            </a:pPr>
            <a:r>
              <a:rPr sz="1400" b="0">
                <a:solidFill>
                  <a:srgbClr val="52514E"/>
                </a:solidFill>
                <a:latin typeface="Segoe UI"/>
              </a:rPr>
              <a:t>8,000 program events: peak demand before and after, megawatts reduced, and cost.</a:t>
            </a:r>
          </a:p>
        </p:txBody>
      </p:sp>
      <p:sp>
        <p:nvSpPr>
          <p:cNvPr id="5" name="TextBox 4"/>
          <p:cNvSpPr txBox="1"/>
          <p:nvPr/>
        </p:nvSpPr>
        <p:spPr>
          <a:xfrm>
            <a:off x="6126480" y="1783080"/>
            <a:ext cx="5394960" cy="4572000"/>
          </a:xfrm>
          <a:prstGeom prst="rect">
            <a:avLst/>
          </a:prstGeom>
          <a:noFill/>
        </p:spPr>
        <p:txBody>
          <a:bodyPr wrap="square">
            <a:spAutoFit/>
          </a:bodyPr>
          <a:lstStyle/>
          <a:p>
            <a:pPr algn="l">
              <a:spcAft>
                <a:spcPts val="200"/>
              </a:spcAft>
            </a:pPr>
            <a:r>
              <a:rPr sz="1500" b="1">
                <a:solidFill>
                  <a:srgbClr val="0B0B0B"/>
                </a:solidFill>
                <a:latin typeface="Segoe UI"/>
              </a:rPr>
              <a:t>Analyzed together for the first time</a:t>
            </a:r>
          </a:p>
          <a:p>
            <a:pPr algn="l">
              <a:spcAft>
                <a:spcPts val="1000"/>
              </a:spcAft>
            </a:pPr>
            <a:r>
              <a:rPr sz="1400" b="0">
                <a:solidFill>
                  <a:srgbClr val="52514E"/>
                </a:solidFill>
                <a:latin typeface="Segoe UI"/>
              </a:rPr>
              <a:t>These three views were connected into one picture of how demand, assets, and programs interact - the integration leadership asked for.</a:t>
            </a:r>
          </a:p>
          <a:p>
            <a:pPr algn="l">
              <a:spcAft>
                <a:spcPts val="200"/>
              </a:spcAft>
            </a:pPr>
            <a:r>
              <a:rPr sz="1500" b="1">
                <a:solidFill>
                  <a:srgbClr val="0B0B0B"/>
                </a:solidFill>
                <a:latin typeface="Segoe UI"/>
              </a:rPr>
              <a:t>Data honesty</a:t>
            </a:r>
          </a:p>
          <a:p>
            <a:pPr algn="l">
              <a:spcAft>
                <a:spcPts val="1000"/>
              </a:spcAft>
            </a:pPr>
            <a:r>
              <a:rPr sz="1400" b="0">
                <a:solidFill>
                  <a:srgbClr val="52514E"/>
                </a:solidFill>
                <a:latin typeface="Segoe UI"/>
              </a:rPr>
              <a:t>About 2% of weather and forecast values are missing, and some weather sensors report impossible readings. We document every gap and none of them change the conclusions.</a:t>
            </a:r>
          </a:p>
          <a:p>
            <a:pPr algn="l">
              <a:spcAft>
                <a:spcPts val="200"/>
              </a:spcAft>
            </a:pPr>
            <a:r>
              <a:rPr sz="1500" b="1">
                <a:solidFill>
                  <a:srgbClr val="0B0B0B"/>
                </a:solidFill>
                <a:latin typeface="Segoe UI"/>
              </a:rPr>
              <a:t>Everything traceable</a:t>
            </a:r>
          </a:p>
          <a:p>
            <a:pPr algn="l">
              <a:spcAft>
                <a:spcPts val="1000"/>
              </a:spcAft>
            </a:pPr>
            <a:r>
              <a:rPr sz="1400" b="0">
                <a:solidFill>
                  <a:srgbClr val="52514E"/>
                </a:solidFill>
                <a:latin typeface="Segoe UI"/>
              </a:rPr>
              <a:t>Every number in this presentation reproduces from your files with a script - ready for finance or regulatory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EB6834"/>
                </a:solidFill>
                <a:latin typeface="Segoe UI"/>
              </a:rPr>
              <a:t>SECTION 4  -  FINDING 1</a:t>
            </a:r>
          </a:p>
          <a:p>
            <a:pPr algn="l">
              <a:spcAft>
                <a:spcPts val="600"/>
              </a:spcAft>
            </a:pPr>
            <a:r>
              <a:rPr sz="2600" b="1">
                <a:solidFill>
                  <a:srgbClr val="0B0B0B"/>
                </a:solidFill>
                <a:latin typeface="Segoe UI"/>
              </a:rPr>
              <a:t>The weather theory does not survive contact with your data</a:t>
            </a:r>
          </a:p>
        </p:txBody>
      </p:sp>
      <p:sp>
        <p:nvSpPr>
          <p:cNvPr id="3" name="Rectangle 2"/>
          <p:cNvSpPr/>
          <p:nvPr/>
        </p:nvSpPr>
        <p:spPr>
          <a:xfrm>
            <a:off x="594360" y="1389888"/>
            <a:ext cx="1463040" cy="28575"/>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What we tested</a:t>
            </a:r>
          </a:p>
          <a:p>
            <a:pPr algn="l">
              <a:spcAft>
                <a:spcPts val="1000"/>
              </a:spcAft>
            </a:pPr>
            <a:r>
              <a:rPr sz="1400" b="0">
                <a:solidFill>
                  <a:srgbClr val="52514E"/>
                </a:solidFill>
                <a:latin typeface="Segoe UI"/>
              </a:rPr>
              <a:t>The working theory was that heat waves and weather extremes drive demand spikes.</a:t>
            </a:r>
          </a:p>
          <a:p>
            <a:pPr algn="l">
              <a:spcAft>
                <a:spcPts val="200"/>
              </a:spcAft>
            </a:pPr>
            <a:r>
              <a:rPr sz="1500" b="1">
                <a:solidFill>
                  <a:srgbClr val="0B0B0B"/>
                </a:solidFill>
                <a:latin typeface="Segoe UI"/>
              </a:rPr>
              <a:t>What the data shows</a:t>
            </a:r>
          </a:p>
          <a:p>
            <a:pPr algn="l">
              <a:spcAft>
                <a:spcPts val="1000"/>
              </a:spcAft>
            </a:pPr>
            <a:r>
              <a:rPr sz="1400" b="0">
                <a:solidFill>
                  <a:srgbClr val="52514E"/>
                </a:solidFill>
                <a:latin typeface="Segoe UI"/>
              </a:rPr>
              <a:t>Hot hours, cold hours, and mild hours all see peak events at the same 10% rate. The relationship between temperature and demand is flat.</a:t>
            </a:r>
          </a:p>
          <a:p>
            <a:pPr algn="l">
              <a:spcAft>
                <a:spcPts val="200"/>
              </a:spcAft>
            </a:pPr>
            <a:r>
              <a:rPr sz="1500" b="1">
                <a:solidFill>
                  <a:srgbClr val="0B0B0B"/>
                </a:solidFill>
                <a:latin typeface="Segoe UI"/>
              </a:rPr>
              <a:t>Why it matters</a:t>
            </a:r>
          </a:p>
          <a:p>
            <a:pPr algn="l">
              <a:spcAft>
                <a:spcPts val="1000"/>
              </a:spcAft>
            </a:pPr>
            <a:r>
              <a:rPr sz="1400" b="0">
                <a:solidFill>
                  <a:srgbClr val="52514E"/>
                </a:solidFill>
                <a:latin typeface="Segoe UI"/>
              </a:rPr>
              <a:t>Money aimed at better weather forecasting would not reduce a single peak event. The driver is elsewhere - and we found it.</a:t>
            </a:r>
          </a:p>
          <a:p>
            <a:pPr algn="l">
              <a:spcAft>
                <a:spcPts val="200"/>
              </a:spcAft>
            </a:pPr>
            <a:r>
              <a:rPr sz="1500" b="1">
                <a:solidFill>
                  <a:srgbClr val="0B0B0B"/>
                </a:solidFill>
                <a:latin typeface="Segoe UI"/>
              </a:rPr>
              <a:t>One caveat</a:t>
            </a:r>
          </a:p>
          <a:p>
            <a:pPr algn="l">
              <a:spcAft>
                <a:spcPts val="1000"/>
              </a:spcAft>
            </a:pPr>
            <a:r>
              <a:rPr sz="1400" b="0">
                <a:solidFill>
                  <a:srgbClr val="52514E"/>
                </a:solidFill>
                <a:latin typeface="Segoe UI"/>
              </a:rPr>
              <a:t>Some weather sensors report impossible values, so we recommend a feed audit before treating this as permanent.</a:t>
            </a:r>
          </a:p>
        </p:txBody>
      </p:sp>
      <p:pic>
        <p:nvPicPr>
          <p:cNvPr id="5" name="Picture 4" descr="04_temp_vs_demand.png"/>
          <p:cNvPicPr>
            <a:picLocks noChangeAspect="1"/>
          </p:cNvPicPr>
          <p:nvPr/>
        </p:nvPicPr>
        <p:blipFill>
          <a:blip r:embed="rId2"/>
          <a:stretch>
            <a:fillRect/>
          </a:stretch>
        </p:blipFill>
        <p:spPr>
          <a:xfrm>
            <a:off x="6035040" y="1920240"/>
            <a:ext cx="5577840" cy="353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EB6834"/>
                </a:solidFill>
                <a:latin typeface="Segoe UI"/>
              </a:rPr>
              <a:t>SECTION 4  -  FINDING 2</a:t>
            </a:r>
          </a:p>
          <a:p>
            <a:pPr algn="l">
              <a:spcAft>
                <a:spcPts val="600"/>
              </a:spcAft>
            </a:pPr>
            <a:r>
              <a:rPr sz="2600" b="1">
                <a:solidFill>
                  <a:srgbClr val="0B0B0B"/>
                </a:solidFill>
                <a:latin typeface="Segoe UI"/>
              </a:rPr>
              <a:t>Demand spikes when customer segments peak together</a:t>
            </a:r>
          </a:p>
        </p:txBody>
      </p:sp>
      <p:sp>
        <p:nvSpPr>
          <p:cNvPr id="3" name="Rectangle 2"/>
          <p:cNvSpPr/>
          <p:nvPr/>
        </p:nvSpPr>
        <p:spPr>
          <a:xfrm>
            <a:off x="594360" y="1389888"/>
            <a:ext cx="1463040" cy="28575"/>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The real driver</a:t>
            </a:r>
          </a:p>
          <a:p>
            <a:pPr algn="l">
              <a:spcAft>
                <a:spcPts val="1000"/>
              </a:spcAft>
            </a:pPr>
            <a:r>
              <a:rPr sz="1400" b="0">
                <a:solidFill>
                  <a:srgbClr val="52514E"/>
                </a:solidFill>
                <a:latin typeface="Segoe UI"/>
              </a:rPr>
              <a:t>System demand tracks the combined load of residential, commercial, and industrial customers almost perfectly.</a:t>
            </a:r>
          </a:p>
          <a:p>
            <a:pPr algn="l">
              <a:spcAft>
                <a:spcPts val="200"/>
              </a:spcAft>
            </a:pPr>
            <a:r>
              <a:rPr sz="1500" b="1">
                <a:solidFill>
                  <a:srgbClr val="0B0B0B"/>
                </a:solidFill>
                <a:latin typeface="Segoe UI"/>
              </a:rPr>
              <a:t>Who moves the needle</a:t>
            </a:r>
          </a:p>
          <a:p>
            <a:pPr algn="l">
              <a:spcAft>
                <a:spcPts val="1000"/>
              </a:spcAft>
            </a:pPr>
            <a:r>
              <a:rPr sz="1400" b="0">
                <a:solidFill>
                  <a:srgbClr val="52514E"/>
                </a:solidFill>
                <a:latin typeface="Segoe UI"/>
              </a:rPr>
              <a:t>Residential customers carry about half the predictive signal, commercial about a quarter, industrial about a fifth. Weather and calendar together: under 2%.</a:t>
            </a:r>
          </a:p>
          <a:p>
            <a:pPr algn="l">
              <a:spcAft>
                <a:spcPts val="200"/>
              </a:spcAft>
            </a:pPr>
            <a:r>
              <a:rPr sz="1500" b="1">
                <a:solidFill>
                  <a:srgbClr val="0B0B0B"/>
                </a:solidFill>
                <a:latin typeface="Segoe UI"/>
              </a:rPr>
              <a:t>The implication</a:t>
            </a:r>
          </a:p>
          <a:p>
            <a:pPr algn="l">
              <a:spcAft>
                <a:spcPts val="1000"/>
              </a:spcAft>
            </a:pPr>
            <a:r>
              <a:rPr sz="1400" b="0">
                <a:solidFill>
                  <a:srgbClr val="52514E"/>
                </a:solidFill>
                <a:latin typeface="Segoe UI"/>
              </a:rPr>
              <a:t>Your smart meters (AMI) already watch these segments in real time. The path to seeing peaks coming is segment-level load tracking, not weather models.</a:t>
            </a:r>
          </a:p>
        </p:txBody>
      </p:sp>
      <p:pic>
        <p:nvPicPr>
          <p:cNvPr id="5" name="Picture 4" descr="03_demand_drivers.png"/>
          <p:cNvPicPr>
            <a:picLocks noChangeAspect="1"/>
          </p:cNvPicPr>
          <p:nvPr/>
        </p:nvPicPr>
        <p:blipFill>
          <a:blip r:embed="rId2"/>
          <a:stretch>
            <a:fillRect/>
          </a:stretch>
        </p:blipFill>
        <p:spPr>
          <a:xfrm>
            <a:off x="6035040" y="1920240"/>
            <a:ext cx="5760720" cy="286115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EB6834"/>
                </a:solidFill>
                <a:latin typeface="Segoe UI"/>
              </a:rPr>
              <a:t>SECTION 5</a:t>
            </a:r>
          </a:p>
          <a:p>
            <a:pPr algn="l">
              <a:spcAft>
                <a:spcPts val="600"/>
              </a:spcAft>
            </a:pPr>
            <a:r>
              <a:rPr sz="2600" b="1">
                <a:solidFill>
                  <a:srgbClr val="0B0B0B"/>
                </a:solidFill>
                <a:latin typeface="Segoe UI"/>
              </a:rPr>
              <a:t>We can see peak events coming before they arrive</a:t>
            </a:r>
          </a:p>
        </p:txBody>
      </p:sp>
      <p:sp>
        <p:nvSpPr>
          <p:cNvPr id="3" name="Rectangle 2"/>
          <p:cNvSpPr/>
          <p:nvPr/>
        </p:nvSpPr>
        <p:spPr>
          <a:xfrm>
            <a:off x="594360" y="1389888"/>
            <a:ext cx="1463040" cy="28575"/>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Today</a:t>
            </a:r>
          </a:p>
          <a:p>
            <a:pPr algn="l">
              <a:spcAft>
                <a:spcPts val="1000"/>
              </a:spcAft>
            </a:pPr>
            <a:r>
              <a:rPr sz="1400" b="0">
                <a:solidFill>
                  <a:srgbClr val="52514E"/>
                </a:solidFill>
                <a:latin typeface="Segoe UI"/>
              </a:rPr>
              <a:t>Your forecast misses by about 24 MW on an average hour - and by just as much during peak events, when a miss is most expensive.</a:t>
            </a:r>
          </a:p>
          <a:p>
            <a:pPr algn="l">
              <a:spcAft>
                <a:spcPts val="200"/>
              </a:spcAft>
            </a:pPr>
            <a:r>
              <a:rPr sz="1500" b="1">
                <a:solidFill>
                  <a:srgbClr val="0B0B0B"/>
                </a:solidFill>
                <a:latin typeface="Segoe UI"/>
              </a:rPr>
              <a:t>What we built</a:t>
            </a:r>
          </a:p>
          <a:p>
            <a:pPr algn="l">
              <a:spcAft>
                <a:spcPts val="1000"/>
              </a:spcAft>
            </a:pPr>
            <a:r>
              <a:rPr sz="1400" b="0">
                <a:solidFill>
                  <a:srgbClr val="52514E"/>
                </a:solidFill>
                <a:latin typeface="Segoe UI"/>
              </a:rPr>
              <a:t>A forecasting model based on customer segment loads. It cuts the error by 17% - and the winning model is simple and fully explainable, which matters in front of a regulator.</a:t>
            </a:r>
          </a:p>
          <a:p>
            <a:pPr algn="l">
              <a:spcAft>
                <a:spcPts val="200"/>
              </a:spcAft>
            </a:pPr>
            <a:r>
              <a:rPr sz="1500" b="1">
                <a:solidFill>
                  <a:srgbClr val="0B0B0B"/>
                </a:solidFill>
                <a:latin typeface="Segoe UI"/>
              </a:rPr>
              <a:t>The operational win</a:t>
            </a:r>
          </a:p>
          <a:p>
            <a:pPr algn="l">
              <a:spcAft>
                <a:spcPts val="1000"/>
              </a:spcAft>
            </a:pPr>
            <a:r>
              <a:rPr sz="1400" b="0">
                <a:solidFill>
                  <a:srgbClr val="52514E"/>
                </a:solidFill>
                <a:latin typeface="Segoe UI"/>
              </a:rPr>
              <a:t>Because peak events are simply the highest-demand hours, an accurate forecast doubles as an early-warning system: when the forecast approaches the peak threshold, demand response is triggered in advance.</a:t>
            </a:r>
          </a:p>
        </p:txBody>
      </p:sp>
      <p:pic>
        <p:nvPicPr>
          <p:cNvPr id="5" name="Picture 4" descr="05_model_comparison.png"/>
          <p:cNvPicPr>
            <a:picLocks noChangeAspect="1"/>
          </p:cNvPicPr>
          <p:nvPr/>
        </p:nvPicPr>
        <p:blipFill>
          <a:blip r:embed="rId2"/>
          <a:stretch>
            <a:fillRect/>
          </a:stretch>
        </p:blipFill>
        <p:spPr>
          <a:xfrm>
            <a:off x="6035040" y="1920240"/>
            <a:ext cx="5577840" cy="33277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EB6834"/>
                </a:solidFill>
                <a:latin typeface="Segoe UI"/>
              </a:rPr>
              <a:t>SECTION 6</a:t>
            </a:r>
          </a:p>
          <a:p>
            <a:pPr algn="l">
              <a:spcAft>
                <a:spcPts val="600"/>
              </a:spcAft>
            </a:pPr>
            <a:r>
              <a:rPr sz="2600" b="1">
                <a:solidFill>
                  <a:srgbClr val="0B0B0B"/>
                </a:solidFill>
                <a:latin typeface="Segoe UI"/>
              </a:rPr>
              <a:t>Grid risk is concentrated in 31 substations - not spread everywhere</a:t>
            </a:r>
          </a:p>
        </p:txBody>
      </p:sp>
      <p:sp>
        <p:nvSpPr>
          <p:cNvPr id="3" name="Rectangle 2"/>
          <p:cNvSpPr/>
          <p:nvPr/>
        </p:nvSpPr>
        <p:spPr>
          <a:xfrm>
            <a:off x="594360" y="1389888"/>
            <a:ext cx="1463040" cy="28575"/>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The critical tier</a:t>
            </a:r>
          </a:p>
          <a:p>
            <a:pPr algn="l">
              <a:spcAft>
                <a:spcPts val="1000"/>
              </a:spcAft>
            </a:pPr>
            <a:r>
              <a:rPr sz="1400" b="0">
                <a:solidFill>
                  <a:srgbClr val="52514E"/>
                </a:solidFill>
                <a:latin typeface="Segoe UI"/>
              </a:rPr>
              <a:t>31 of 500 substations score in the critical risk band. Ten are in the North region, eight in the West - nearly 60% in two regions.</a:t>
            </a:r>
          </a:p>
          <a:p>
            <a:pPr algn="l">
              <a:spcAft>
                <a:spcPts val="200"/>
              </a:spcAft>
            </a:pPr>
            <a:r>
              <a:rPr sz="1500" b="1">
                <a:solidFill>
                  <a:srgbClr val="0B0B0B"/>
                </a:solidFill>
                <a:latin typeface="Segoe UI"/>
              </a:rPr>
              <a:t>Running hot</a:t>
            </a:r>
          </a:p>
          <a:p>
            <a:pPr algn="l">
              <a:spcAft>
                <a:spcPts val="1000"/>
              </a:spcAft>
            </a:pPr>
            <a:r>
              <a:rPr sz="1400" b="0">
                <a:solidFill>
                  <a:srgbClr val="52514E"/>
                </a:solidFill>
                <a:latin typeface="Segoe UI"/>
              </a:rPr>
              <a:t>162 substations operate above 85% of rated capacity; 35 are already past 100% and depend on favorable conditions every day.</a:t>
            </a:r>
          </a:p>
          <a:p>
            <a:pPr algn="l">
              <a:spcAft>
                <a:spcPts val="200"/>
              </a:spcAft>
            </a:pPr>
            <a:r>
              <a:rPr sz="1500" b="1">
                <a:solidFill>
                  <a:srgbClr val="0B0B0B"/>
                </a:solidFill>
                <a:latin typeface="Segoe UI"/>
              </a:rPr>
              <a:t>What drives risk</a:t>
            </a:r>
          </a:p>
          <a:p>
            <a:pPr algn="l">
              <a:spcAft>
                <a:spcPts val="1000"/>
              </a:spcAft>
            </a:pPr>
            <a:r>
              <a:rPr sz="1400" b="0">
                <a:solidFill>
                  <a:srgbClr val="52514E"/>
                </a:solidFill>
                <a:latin typeface="Segoe UI"/>
              </a:rPr>
              <a:t>Projected load growth (r = 0.55) and age (r = 0.52) are the top two drivers, essentially tied, followed by utilization and outage history - the risk score looks forward, not just backward.</a:t>
            </a:r>
          </a:p>
          <a:p>
            <a:pPr algn="l">
              <a:spcAft>
                <a:spcPts val="200"/>
              </a:spcAft>
            </a:pPr>
            <a:r>
              <a:rPr sz="1500" b="1">
                <a:solidFill>
                  <a:srgbClr val="0B0B0B"/>
                </a:solidFill>
                <a:latin typeface="Segoe UI"/>
              </a:rPr>
              <a:t>The discipline</a:t>
            </a:r>
          </a:p>
          <a:p>
            <a:pPr algn="l">
              <a:spcAft>
                <a:spcPts val="1000"/>
              </a:spcAft>
            </a:pPr>
            <a:r>
              <a:rPr sz="1400" b="0">
                <a:solidFill>
                  <a:srgbClr val="52514E"/>
                </a:solidFill>
                <a:latin typeface="Segoe UI"/>
              </a:rPr>
              <a:t>Every asset on the priority list gets engineering confirmation before commitment - the score guides, engineers decide.</a:t>
            </a:r>
          </a:p>
        </p:txBody>
      </p:sp>
      <p:pic>
        <p:nvPicPr>
          <p:cNvPr id="5" name="Picture 4" descr="06_infra_risk.png"/>
          <p:cNvPicPr>
            <a:picLocks noChangeAspect="1"/>
          </p:cNvPicPr>
          <p:nvPr/>
        </p:nvPicPr>
        <p:blipFill>
          <a:blip r:embed="rId2"/>
          <a:stretch>
            <a:fillRect/>
          </a:stretch>
        </p:blipFill>
        <p:spPr>
          <a:xfrm>
            <a:off x="6035040" y="1920240"/>
            <a:ext cx="5577840" cy="368721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EB6834"/>
                </a:solidFill>
                <a:latin typeface="Segoe UI"/>
              </a:rPr>
              <a:t>SECTION 7</a:t>
            </a:r>
          </a:p>
          <a:p>
            <a:pPr algn="l">
              <a:spcAft>
                <a:spcPts val="600"/>
              </a:spcAft>
            </a:pPr>
            <a:r>
              <a:rPr sz="2600" b="1">
                <a:solidFill>
                  <a:srgbClr val="0B0B0B"/>
                </a:solidFill>
                <a:latin typeface="Segoe UI"/>
              </a:rPr>
              <a:t>Demand response works - but pays off very unevenly</a:t>
            </a:r>
          </a:p>
        </p:txBody>
      </p:sp>
      <p:sp>
        <p:nvSpPr>
          <p:cNvPr id="3" name="Rectangle 2"/>
          <p:cNvSpPr/>
          <p:nvPr/>
        </p:nvSpPr>
        <p:spPr>
          <a:xfrm>
            <a:off x="594360" y="1389888"/>
            <a:ext cx="1463040" cy="28575"/>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The program is effective</a:t>
            </a:r>
          </a:p>
          <a:p>
            <a:pPr algn="l">
              <a:spcAft>
                <a:spcPts val="1000"/>
              </a:spcAft>
            </a:pPr>
            <a:r>
              <a:rPr sz="1400" b="0">
                <a:solidFill>
                  <a:srgbClr val="52514E"/>
                </a:solidFill>
                <a:latin typeface="Segoe UI"/>
              </a:rPr>
              <a:t>8,000 events reduced 1.33 million MW of peak load. Every customer type - residential, commercial, industrial - performs about the same.</a:t>
            </a:r>
          </a:p>
          <a:p>
            <a:pPr algn="l">
              <a:spcAft>
                <a:spcPts val="200"/>
              </a:spcAft>
            </a:pPr>
            <a:r>
              <a:rPr sz="1500" b="1">
                <a:solidFill>
                  <a:srgbClr val="0B0B0B"/>
                </a:solidFill>
                <a:latin typeface="Segoe UI"/>
              </a:rPr>
              <a:t>The problem is execution</a:t>
            </a:r>
          </a:p>
          <a:p>
            <a:pPr algn="l">
              <a:spcAft>
                <a:spcPts val="1000"/>
              </a:spcAft>
            </a:pPr>
            <a:r>
              <a:rPr sz="1400" b="0">
                <a:solidFill>
                  <a:srgbClr val="52514E"/>
                </a:solidFill>
                <a:latin typeface="Segoe UI"/>
              </a:rPr>
              <a:t>The best quarter of events removes load at about $107 per MW. The worst quarter averages about $1,150 - eleven times more - and absorbed $141M of the $420M program while delivering 10% of the results.</a:t>
            </a:r>
          </a:p>
          <a:p>
            <a:pPr algn="l">
              <a:spcAft>
                <a:spcPts val="200"/>
              </a:spcAft>
            </a:pPr>
            <a:r>
              <a:rPr sz="1500" b="1">
                <a:solidFill>
                  <a:srgbClr val="0B0B0B"/>
                </a:solidFill>
                <a:latin typeface="Segoe UI"/>
              </a:rPr>
              <a:t>What that means</a:t>
            </a:r>
          </a:p>
          <a:p>
            <a:pPr algn="l">
              <a:spcAft>
                <a:spcPts val="1000"/>
              </a:spcAft>
            </a:pPr>
            <a:r>
              <a:rPr sz="1400" b="0">
                <a:solidFill>
                  <a:srgbClr val="52514E"/>
                </a:solidFill>
                <a:latin typeface="Segoe UI"/>
              </a:rPr>
              <a:t>This is not a recruitment problem. It is about when events are called, how they are sized, and how incentives are set - all fixable.</a:t>
            </a:r>
          </a:p>
        </p:txBody>
      </p:sp>
      <p:pic>
        <p:nvPicPr>
          <p:cNvPr id="5" name="Picture 4" descr="08_dr_cost_quartiles.png"/>
          <p:cNvPicPr>
            <a:picLocks noChangeAspect="1"/>
          </p:cNvPicPr>
          <p:nvPr/>
        </p:nvPicPr>
        <p:blipFill>
          <a:blip r:embed="rId2"/>
          <a:stretch>
            <a:fillRect/>
          </a:stretch>
        </p:blipFill>
        <p:spPr>
          <a:xfrm>
            <a:off x="6035040" y="1920240"/>
            <a:ext cx="5577840" cy="331375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1BAF7A"/>
                </a:solidFill>
                <a:latin typeface="Segoe UI"/>
              </a:rPr>
              <a:t>SECTION 7</a:t>
            </a:r>
          </a:p>
          <a:p>
            <a:pPr algn="l">
              <a:spcAft>
                <a:spcPts val="600"/>
              </a:spcAft>
            </a:pPr>
            <a:r>
              <a:rPr sz="2600" b="1">
                <a:solidFill>
                  <a:srgbClr val="0B0B0B"/>
                </a:solidFill>
                <a:latin typeface="Segoe UI"/>
              </a:rPr>
              <a:t>The single biggest opportunity: $98.5M inside the existing DR budget</a:t>
            </a:r>
          </a:p>
        </p:txBody>
      </p:sp>
      <p:sp>
        <p:nvSpPr>
          <p:cNvPr id="3" name="Rectangle 2"/>
          <p:cNvSpPr/>
          <p:nvPr/>
        </p:nvSpPr>
        <p:spPr>
          <a:xfrm>
            <a:off x="594360" y="1389888"/>
            <a:ext cx="1463040" cy="28575"/>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The standard already exists</a:t>
            </a:r>
          </a:p>
          <a:p>
            <a:pPr algn="l">
              <a:spcAft>
                <a:spcPts val="1000"/>
              </a:spcAft>
            </a:pPr>
            <a:r>
              <a:rPr sz="1400" b="0">
                <a:solidFill>
                  <a:srgbClr val="52514E"/>
                </a:solidFill>
                <a:latin typeface="Segoe UI"/>
              </a:rPr>
              <a:t>Half of your events already deliver at $330 per MW or better. We are not proposing a theoretical benchmark - it is your own median performance.</a:t>
            </a:r>
          </a:p>
          <a:p>
            <a:pPr algn="l">
              <a:spcAft>
                <a:spcPts val="200"/>
              </a:spcAft>
            </a:pPr>
            <a:r>
              <a:rPr sz="1500" b="1">
                <a:solidFill>
                  <a:srgbClr val="0B0B0B"/>
                </a:solidFill>
                <a:latin typeface="Segoe UI"/>
              </a:rPr>
              <a:t>The math</a:t>
            </a:r>
          </a:p>
          <a:p>
            <a:pPr algn="l">
              <a:spcAft>
                <a:spcPts val="1000"/>
              </a:spcAft>
            </a:pPr>
            <a:r>
              <a:rPr sz="1400" b="0">
                <a:solidFill>
                  <a:srgbClr val="52514E"/>
                </a:solidFill>
                <a:latin typeface="Segoe UI"/>
              </a:rPr>
              <a:t>Delivering the worst quartile's megawatts at that median would have cost $42.8M instead of $141.3M. Same megawatts, $98.5M freed.</a:t>
            </a:r>
          </a:p>
          <a:p>
            <a:pPr algn="l">
              <a:spcAft>
                <a:spcPts val="200"/>
              </a:spcAft>
            </a:pPr>
            <a:r>
              <a:rPr sz="1500" b="1">
                <a:solidFill>
                  <a:srgbClr val="0B0B0B"/>
                </a:solidFill>
                <a:latin typeface="Segoe UI"/>
              </a:rPr>
              <a:t>Note the coincidence</a:t>
            </a:r>
          </a:p>
          <a:p>
            <a:pPr algn="l">
              <a:spcAft>
                <a:spcPts val="1000"/>
              </a:spcAft>
            </a:pPr>
            <a:r>
              <a:rPr sz="1400" b="0">
                <a:solidFill>
                  <a:srgbClr val="52514E"/>
                </a:solidFill>
                <a:latin typeface="Segoe UI"/>
              </a:rPr>
              <a:t>Leadership estimated $95-120M of exposure from demand volatility. Most of that money is recoverable from inside the demand response budget alone.</a:t>
            </a:r>
          </a:p>
        </p:txBody>
      </p:sp>
      <p:pic>
        <p:nvPicPr>
          <p:cNvPr id="5" name="Picture 4" descr="09_dr_savings.png"/>
          <p:cNvPicPr>
            <a:picLocks noChangeAspect="1"/>
          </p:cNvPicPr>
          <p:nvPr/>
        </p:nvPicPr>
        <p:blipFill>
          <a:blip r:embed="rId2"/>
          <a:stretch>
            <a:fillRect/>
          </a:stretch>
        </p:blipFill>
        <p:spPr>
          <a:xfrm>
            <a:off x="6035040" y="1920240"/>
            <a:ext cx="5577840" cy="33749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2A78D6"/>
                </a:solidFill>
                <a:latin typeface="Segoe UI"/>
              </a:rPr>
              <a:t>SECTION 8</a:t>
            </a:r>
          </a:p>
          <a:p>
            <a:pPr algn="l">
              <a:spcAft>
                <a:spcPts val="600"/>
              </a:spcAft>
            </a:pPr>
            <a:r>
              <a:rPr sz="2600" b="1">
                <a:solidFill>
                  <a:srgbClr val="0B0B0B"/>
                </a:solidFill>
                <a:latin typeface="Segoe UI"/>
              </a:rPr>
              <a:t>Executive dashboard: the whole picture on one screen  (live demo)</a:t>
            </a:r>
          </a:p>
        </p:txBody>
      </p:sp>
      <p:sp>
        <p:nvSpPr>
          <p:cNvPr id="3" name="Rectangle 2"/>
          <p:cNvSpPr/>
          <p:nvPr/>
        </p:nvSpPr>
        <p:spPr>
          <a:xfrm>
            <a:off x="594360" y="1389888"/>
            <a:ext cx="146304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394960" cy="4572000"/>
          </a:xfrm>
          <a:prstGeom prst="rect">
            <a:avLst/>
          </a:prstGeom>
          <a:noFill/>
        </p:spPr>
        <p:txBody>
          <a:bodyPr wrap="square">
            <a:spAutoFit/>
          </a:bodyPr>
          <a:lstStyle/>
          <a:p>
            <a:pPr algn="l">
              <a:spcAft>
                <a:spcPts val="200"/>
              </a:spcAft>
            </a:pPr>
            <a:r>
              <a:rPr sz="1500" b="1">
                <a:solidFill>
                  <a:srgbClr val="0B0B0B"/>
                </a:solidFill>
                <a:latin typeface="Segoe UI"/>
              </a:rPr>
              <a:t>Executive KPI summary</a:t>
            </a:r>
          </a:p>
          <a:p>
            <a:pPr algn="l">
              <a:spcAft>
                <a:spcPts val="1000"/>
              </a:spcAft>
            </a:pPr>
            <a:r>
              <a:rPr sz="1400" b="0">
                <a:solidFill>
                  <a:srgbClr val="52514E"/>
                </a:solidFill>
                <a:latin typeface="Segoe UI"/>
              </a:rPr>
              <a:t>Peak events, forecast accuracy, critical substations, DR performance, and expected value - the headline numbers, always stable.</a:t>
            </a:r>
          </a:p>
          <a:p>
            <a:pPr algn="l">
              <a:spcAft>
                <a:spcPts val="200"/>
              </a:spcAft>
            </a:pPr>
            <a:r>
              <a:rPr sz="1500" b="1">
                <a:solidFill>
                  <a:srgbClr val="0B0B0B"/>
                </a:solidFill>
                <a:latin typeface="Segoe UI"/>
              </a:rPr>
              <a:t>Three analytics pages</a:t>
            </a:r>
          </a:p>
          <a:p>
            <a:pPr algn="l">
              <a:spcAft>
                <a:spcPts val="1000"/>
              </a:spcAft>
            </a:pPr>
            <a:r>
              <a:rPr sz="1400" b="0">
                <a:solidFill>
                  <a:srgbClr val="52514E"/>
                </a:solidFill>
                <a:latin typeface="Segoe UI"/>
              </a:rPr>
              <a:t>Demand (including the weather scatter you just saw), infrastructure (critical tier in red, filterable by region), and demand response (cost-effectiveness quartiles).</a:t>
            </a:r>
          </a:p>
          <a:p>
            <a:pPr algn="l">
              <a:spcAft>
                <a:spcPts val="200"/>
              </a:spcAft>
            </a:pPr>
            <a:r>
              <a:rPr sz="1500" b="1">
                <a:solidFill>
                  <a:srgbClr val="0B0B0B"/>
                </a:solidFill>
                <a:latin typeface="Segoe UI"/>
              </a:rPr>
              <a:t>Recommendation center</a:t>
            </a:r>
          </a:p>
          <a:p>
            <a:pPr algn="l">
              <a:spcAft>
                <a:spcPts val="1000"/>
              </a:spcAft>
            </a:pPr>
            <a:r>
              <a:rPr sz="1400" b="0">
                <a:solidFill>
                  <a:srgbClr val="52514E"/>
                </a:solidFill>
                <a:latin typeface="Segoe UI"/>
              </a:rPr>
              <a:t>The three recommendations with their value, cost, and payback - the page a leader opens on Monday morning.</a:t>
            </a:r>
          </a:p>
          <a:p>
            <a:pPr algn="l">
              <a:spcAft>
                <a:spcPts val="200"/>
              </a:spcAft>
            </a:pPr>
            <a:r>
              <a:rPr sz="1500" b="1">
                <a:solidFill>
                  <a:srgbClr val="0B0B0B"/>
                </a:solidFill>
                <a:latin typeface="Segoe UI"/>
              </a:rPr>
              <a:t>Built to refresh</a:t>
            </a:r>
          </a:p>
          <a:p>
            <a:pPr algn="l">
              <a:spcAft>
                <a:spcPts val="1000"/>
              </a:spcAft>
            </a:pPr>
            <a:r>
              <a:rPr sz="1400" b="0">
                <a:solidFill>
                  <a:srgbClr val="52514E"/>
                </a:solidFill>
                <a:latin typeface="Segoe UI"/>
              </a:rPr>
              <a:t>The data extracts are scripted, so a monthly refresh is a scheduling task, not a rebuild.</a:t>
            </a:r>
          </a:p>
        </p:txBody>
      </p:sp>
      <p:sp>
        <p:nvSpPr>
          <p:cNvPr id="5" name="TextBox 4"/>
          <p:cNvSpPr txBox="1"/>
          <p:nvPr/>
        </p:nvSpPr>
        <p:spPr>
          <a:xfrm>
            <a:off x="6126480" y="1920240"/>
            <a:ext cx="5394960" cy="4023360"/>
          </a:xfrm>
          <a:prstGeom prst="rect">
            <a:avLst/>
          </a:prstGeom>
          <a:noFill/>
        </p:spPr>
        <p:txBody>
          <a:bodyPr wrap="square">
            <a:spAutoFit/>
          </a:bodyPr>
          <a:lstStyle/>
          <a:p>
            <a:pPr algn="ctr">
              <a:spcAft>
                <a:spcPts val="800"/>
              </a:spcAft>
            </a:pPr>
            <a:r>
              <a:rPr sz="1400" b="1">
                <a:solidFill>
                  <a:srgbClr val="2A78D6"/>
                </a:solidFill>
                <a:latin typeface="Segoe UI"/>
              </a:rPr>
              <a:t>LIVE POWER BI WALKTHROUGH</a:t>
            </a:r>
          </a:p>
          <a:p>
            <a:pPr algn="ctr">
              <a:spcAft>
                <a:spcPts val="600"/>
              </a:spcAft>
            </a:pPr>
            <a:r>
              <a:rPr sz="1200" b="0">
                <a:solidFill>
                  <a:srgbClr val="898781"/>
                </a:solidFill>
                <a:latin typeface="Segoe UI"/>
              </a:rPr>
              <a:t>(Dashboard demonstrated live during the presentation; screenshots available as backup.)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1BAF7A"/>
                </a:solidFill>
                <a:latin typeface="Segoe UI"/>
              </a:rPr>
              <a:t>SECTION 9</a:t>
            </a:r>
          </a:p>
          <a:p>
            <a:pPr algn="l">
              <a:spcAft>
                <a:spcPts val="600"/>
              </a:spcAft>
            </a:pPr>
            <a:r>
              <a:rPr sz="2600" b="1">
                <a:solidFill>
                  <a:srgbClr val="0B0B0B"/>
                </a:solidFill>
                <a:latin typeface="Segoe UI"/>
              </a:rPr>
              <a:t>What NGES needs to do - three moves, in priority order</a:t>
            </a:r>
          </a:p>
        </p:txBody>
      </p:sp>
      <p:sp>
        <p:nvSpPr>
          <p:cNvPr id="3" name="Rectangle 2"/>
          <p:cNvSpPr/>
          <p:nvPr/>
        </p:nvSpPr>
        <p:spPr>
          <a:xfrm>
            <a:off x="594360" y="1389888"/>
            <a:ext cx="1463040" cy="28575"/>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783080"/>
            <a:ext cx="3657600" cy="5715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65960"/>
            <a:ext cx="3657600" cy="4206240"/>
          </a:xfrm>
          <a:prstGeom prst="rect">
            <a:avLst/>
          </a:prstGeom>
          <a:noFill/>
        </p:spPr>
        <p:txBody>
          <a:bodyPr wrap="square">
            <a:spAutoFit/>
          </a:bodyPr>
          <a:lstStyle/>
          <a:p>
            <a:pPr algn="l">
              <a:spcAft>
                <a:spcPts val="800"/>
              </a:spcAft>
            </a:pPr>
            <a:r>
              <a:rPr sz="1600" b="1">
                <a:solidFill>
                  <a:srgbClr val="0B0B0B"/>
                </a:solidFill>
                <a:latin typeface="Segoe UI"/>
              </a:rPr>
              <a:t>1. Fix demand response execution</a:t>
            </a:r>
          </a:p>
          <a:p>
            <a:pPr algn="l">
              <a:spcAft>
                <a:spcPts val="1000"/>
              </a:spcAft>
            </a:pPr>
            <a:r>
              <a:rPr sz="1250" b="0">
                <a:solidFill>
                  <a:srgbClr val="52514E"/>
                </a:solidFill>
                <a:latin typeface="Segoe UI"/>
              </a:rPr>
              <a:t>Improve: standardize event sizing, timing, and incentives against your own median cost-effectiveness; retire or redesign chronically inefficient events.</a:t>
            </a:r>
          </a:p>
          <a:p>
            <a:pPr algn="l">
              <a:spcAft>
                <a:spcPts val="600"/>
              </a:spcAft>
            </a:pPr>
            <a:r>
              <a:rPr sz="1250" b="1">
                <a:solidFill>
                  <a:srgbClr val="0B0B0B"/>
                </a:solidFill>
                <a:latin typeface="Segoe UI"/>
              </a:rPr>
              <a:t>Worth: $22-40M per year (expected $34.8M). Fastest payback - it is savings from money already being spent.</a:t>
            </a:r>
          </a:p>
        </p:txBody>
      </p:sp>
      <p:sp>
        <p:nvSpPr>
          <p:cNvPr id="6" name="Rectangle 5"/>
          <p:cNvSpPr/>
          <p:nvPr/>
        </p:nvSpPr>
        <p:spPr>
          <a:xfrm>
            <a:off x="4480560" y="1783080"/>
            <a:ext cx="3657600" cy="5715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965960"/>
            <a:ext cx="3657600" cy="4206240"/>
          </a:xfrm>
          <a:prstGeom prst="rect">
            <a:avLst/>
          </a:prstGeom>
          <a:noFill/>
        </p:spPr>
        <p:txBody>
          <a:bodyPr wrap="square">
            <a:spAutoFit/>
          </a:bodyPr>
          <a:lstStyle/>
          <a:p>
            <a:pPr algn="l">
              <a:spcAft>
                <a:spcPts val="800"/>
              </a:spcAft>
            </a:pPr>
            <a:r>
              <a:rPr sz="1600" b="1">
                <a:solidFill>
                  <a:srgbClr val="0B0B0B"/>
                </a:solidFill>
                <a:latin typeface="Segoe UI"/>
              </a:rPr>
              <a:t>2. Target capital at the critical 31</a:t>
            </a:r>
          </a:p>
          <a:p>
            <a:pPr algn="l">
              <a:spcAft>
                <a:spcPts val="1000"/>
              </a:spcAft>
            </a:pPr>
            <a:r>
              <a:rPr sz="1250" b="0">
                <a:solidFill>
                  <a:srgbClr val="52514E"/>
                </a:solidFill>
                <a:latin typeface="Segoe UI"/>
              </a:rPr>
              <a:t>Improve: a two-speed capital plan - upgrade the 31 critical substations over 3-5 years in ranked order; cover the elevated tier with monitoring and DR instead of immediate replacement.</a:t>
            </a:r>
          </a:p>
          <a:p>
            <a:pPr algn="l">
              <a:spcAft>
                <a:spcPts val="600"/>
              </a:spcAft>
            </a:pPr>
            <a:r>
              <a:rPr sz="1250" b="1">
                <a:solidFill>
                  <a:srgbClr val="0B0B0B"/>
                </a:solidFill>
                <a:latin typeface="Segoe UI"/>
              </a:rPr>
              <a:t>Worth: $6-15M per year (expected $10M) from deferring $100-150M of lower-priority spend, plus reduced outage exposure in the North and West.</a:t>
            </a:r>
          </a:p>
        </p:txBody>
      </p:sp>
      <p:sp>
        <p:nvSpPr>
          <p:cNvPr id="8" name="Rectangle 7"/>
          <p:cNvSpPr/>
          <p:nvPr/>
        </p:nvSpPr>
        <p:spPr>
          <a:xfrm>
            <a:off x="8366760" y="1783080"/>
            <a:ext cx="3657600" cy="5715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965960"/>
            <a:ext cx="3657600" cy="4206240"/>
          </a:xfrm>
          <a:prstGeom prst="rect">
            <a:avLst/>
          </a:prstGeom>
          <a:noFill/>
        </p:spPr>
        <p:txBody>
          <a:bodyPr wrap="square">
            <a:spAutoFit/>
          </a:bodyPr>
          <a:lstStyle/>
          <a:p>
            <a:pPr algn="l">
              <a:spcAft>
                <a:spcPts val="800"/>
              </a:spcAft>
            </a:pPr>
            <a:r>
              <a:rPr sz="1600" b="1">
                <a:solidFill>
                  <a:srgbClr val="0B0B0B"/>
                </a:solidFill>
                <a:latin typeface="Segoe UI"/>
              </a:rPr>
              <a:t>3. Upgrade forecasting &amp; warning</a:t>
            </a:r>
          </a:p>
          <a:p>
            <a:pPr algn="l">
              <a:spcAft>
                <a:spcPts val="1000"/>
              </a:spcAft>
            </a:pPr>
            <a:r>
              <a:rPr sz="1250" b="0">
                <a:solidFill>
                  <a:srgbClr val="52514E"/>
                </a:solidFill>
                <a:latin typeface="Segoe UI"/>
              </a:rPr>
              <a:t>Improve: replace the current forecast with the segment-load model fed by AMI data; trigger DR automatically when forecasts approach the peak threshold.</a:t>
            </a:r>
          </a:p>
          <a:p>
            <a:pPr algn="l">
              <a:spcAft>
                <a:spcPts val="600"/>
              </a:spcAft>
            </a:pPr>
            <a:r>
              <a:rPr sz="1250" b="1">
                <a:solidFill>
                  <a:srgbClr val="0B0B0B"/>
                </a:solidFill>
                <a:latin typeface="Segoe UI"/>
              </a:rPr>
              <a:t>Worth: $0.5-2M per year directly - and it is the engine that makes recommendations 1 and 2 work day to 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1BAF7A"/>
                </a:solidFill>
                <a:latin typeface="Segoe UI"/>
              </a:rPr>
              <a:t>SECTION 10</a:t>
            </a:r>
          </a:p>
          <a:p>
            <a:pPr algn="l">
              <a:spcAft>
                <a:spcPts val="600"/>
              </a:spcAft>
            </a:pPr>
            <a:r>
              <a:rPr sz="2600" b="1">
                <a:solidFill>
                  <a:srgbClr val="0B0B0B"/>
                </a:solidFill>
                <a:latin typeface="Segoe UI"/>
              </a:rPr>
              <a:t>The financial case: value in every scenario</a:t>
            </a:r>
          </a:p>
        </p:txBody>
      </p:sp>
      <p:sp>
        <p:nvSpPr>
          <p:cNvPr id="3" name="Rectangle 2"/>
          <p:cNvSpPr/>
          <p:nvPr/>
        </p:nvSpPr>
        <p:spPr>
          <a:xfrm>
            <a:off x="594360" y="1389888"/>
            <a:ext cx="1463040" cy="28575"/>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5212080" cy="4572000"/>
          </a:xfrm>
          <a:prstGeom prst="rect">
            <a:avLst/>
          </a:prstGeom>
          <a:noFill/>
        </p:spPr>
        <p:txBody>
          <a:bodyPr wrap="square">
            <a:spAutoFit/>
          </a:bodyPr>
          <a:lstStyle/>
          <a:p>
            <a:pPr algn="l">
              <a:spcAft>
                <a:spcPts val="200"/>
              </a:spcAft>
            </a:pPr>
            <a:r>
              <a:rPr sz="1500" b="1">
                <a:solidFill>
                  <a:srgbClr val="0B0B0B"/>
                </a:solidFill>
                <a:latin typeface="Segoe UI"/>
              </a:rPr>
              <a:t>Three scenarios, visible assumptions</a:t>
            </a:r>
          </a:p>
          <a:p>
            <a:pPr algn="l">
              <a:spcAft>
                <a:spcPts val="1000"/>
              </a:spcAft>
            </a:pPr>
            <a:r>
              <a:rPr sz="1400" b="0">
                <a:solidFill>
                  <a:srgbClr val="52514E"/>
                </a:solidFill>
                <a:latin typeface="Segoe UI"/>
              </a:rPr>
              <a:t>Conservative $28.6M, expected $45.8M, optimistic $57.0M per year. Every assumption behind these numbers is written down for your finance team to challenge.</a:t>
            </a:r>
          </a:p>
          <a:p>
            <a:pPr algn="l">
              <a:spcAft>
                <a:spcPts val="200"/>
              </a:spcAft>
            </a:pPr>
            <a:r>
              <a:rPr sz="1500" b="1">
                <a:solidFill>
                  <a:srgbClr val="0B0B0B"/>
                </a:solidFill>
                <a:latin typeface="Segoe UI"/>
              </a:rPr>
              <a:t>What it costs</a:t>
            </a:r>
          </a:p>
          <a:p>
            <a:pPr algn="l">
              <a:spcAft>
                <a:spcPts val="1000"/>
              </a:spcAft>
            </a:pPr>
            <a:r>
              <a:rPr sz="1400" b="0">
                <a:solidFill>
                  <a:srgbClr val="52514E"/>
                </a:solidFill>
                <a:latin typeface="Segoe UI"/>
              </a:rPr>
              <a:t>About $8M one-time (forecasting platform, DR redesign, analytics staffing) plus roughly $5M per year to run.</a:t>
            </a:r>
          </a:p>
          <a:p>
            <a:pPr algn="l">
              <a:spcAft>
                <a:spcPts val="200"/>
              </a:spcAft>
            </a:pPr>
            <a:r>
              <a:rPr sz="1500" b="1">
                <a:solidFill>
                  <a:srgbClr val="0B0B0B"/>
                </a:solidFill>
                <a:latin typeface="Segoe UI"/>
              </a:rPr>
              <a:t>Payback</a:t>
            </a:r>
          </a:p>
          <a:p>
            <a:pPr algn="l">
              <a:spcAft>
                <a:spcPts val="1000"/>
              </a:spcAft>
            </a:pPr>
            <a:r>
              <a:rPr sz="1400" b="0">
                <a:solidFill>
                  <a:srgbClr val="52514E"/>
                </a:solidFill>
                <a:latin typeface="Segoe UI"/>
              </a:rPr>
              <a:t>Under one year in every scenario. Over the 3-year capital planning window, the expected case creates about $137M of value - more than neutralizing the $95-120M exposure.</a:t>
            </a:r>
          </a:p>
        </p:txBody>
      </p:sp>
      <p:pic>
        <p:nvPicPr>
          <p:cNvPr id="5" name="Picture 4" descr="10_roi_scenarios.png"/>
          <p:cNvPicPr>
            <a:picLocks noChangeAspect="1"/>
          </p:cNvPicPr>
          <p:nvPr/>
        </p:nvPicPr>
        <p:blipFill>
          <a:blip r:embed="rId2"/>
          <a:stretch>
            <a:fillRect/>
          </a:stretch>
        </p:blipFill>
        <p:spPr>
          <a:xfrm>
            <a:off x="6035040" y="1920240"/>
            <a:ext cx="5760720" cy="341483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2A78D6"/>
                </a:solidFill>
                <a:latin typeface="Segoe UI"/>
              </a:rPr>
              <a:t>SECTION 11</a:t>
            </a:r>
          </a:p>
          <a:p>
            <a:pPr algn="l">
              <a:spcAft>
                <a:spcPts val="600"/>
              </a:spcAft>
            </a:pPr>
            <a:r>
              <a:rPr sz="2600" b="1">
                <a:solidFill>
                  <a:srgbClr val="0B0B0B"/>
                </a:solidFill>
                <a:latin typeface="Segoe UI"/>
              </a:rPr>
              <a:t>Implementation roadmap</a:t>
            </a:r>
          </a:p>
        </p:txBody>
      </p:sp>
      <p:sp>
        <p:nvSpPr>
          <p:cNvPr id="3" name="Rectangle 2"/>
          <p:cNvSpPr/>
          <p:nvPr/>
        </p:nvSpPr>
        <p:spPr>
          <a:xfrm>
            <a:off x="594360" y="1389888"/>
            <a:ext cx="1463040" cy="28575"/>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1783080"/>
            <a:ext cx="3657600" cy="5715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65960"/>
            <a:ext cx="3657600" cy="4480560"/>
          </a:xfrm>
          <a:prstGeom prst="rect">
            <a:avLst/>
          </a:prstGeom>
          <a:noFill/>
        </p:spPr>
        <p:txBody>
          <a:bodyPr wrap="square">
            <a:spAutoFit/>
          </a:bodyPr>
          <a:lstStyle/>
          <a:p>
            <a:pPr algn="l">
              <a:spcAft>
                <a:spcPts val="800"/>
              </a:spcAft>
            </a:pPr>
            <a:r>
              <a:rPr sz="1500" b="1">
                <a:solidFill>
                  <a:srgbClr val="0B0B0B"/>
                </a:solidFill>
                <a:latin typeface="Segoe UI"/>
              </a:rPr>
              <a:t>Immediate  (0-12 months)</a:t>
            </a:r>
          </a:p>
          <a:p>
            <a:pPr algn="l">
              <a:spcAft>
                <a:spcPts val="600"/>
              </a:spcAft>
            </a:pPr>
            <a:r>
              <a:rPr sz="1150" b="0">
                <a:solidFill>
                  <a:srgbClr val="52514E"/>
                </a:solidFill>
                <a:latin typeface="Segoe UI"/>
              </a:rPr>
              <a:t>-  Stand up DR event standards: sizing, timing, incentive caps tied to $/MW.</a:t>
            </a:r>
          </a:p>
          <a:p>
            <a:pPr algn="l">
              <a:spcAft>
                <a:spcPts val="600"/>
              </a:spcAft>
            </a:pPr>
            <a:r>
              <a:rPr sz="1150" b="0">
                <a:solidFill>
                  <a:srgbClr val="52514E"/>
                </a:solidFill>
                <a:latin typeface="Segoe UI"/>
              </a:rPr>
              <a:t>-  Audit weather feeds and fix sensor issues.</a:t>
            </a:r>
          </a:p>
          <a:p>
            <a:pPr algn="l">
              <a:spcAft>
                <a:spcPts val="600"/>
              </a:spcAft>
            </a:pPr>
            <a:r>
              <a:rPr sz="1150" b="0">
                <a:solidFill>
                  <a:srgbClr val="52514E"/>
                </a:solidFill>
                <a:latin typeface="Segoe UI"/>
              </a:rPr>
              <a:t>-  Deploy the segment-load forecast alongside the current one and compare monthly.</a:t>
            </a:r>
          </a:p>
          <a:p>
            <a:pPr algn="l">
              <a:spcAft>
                <a:spcPts val="600"/>
              </a:spcAft>
            </a:pPr>
            <a:r>
              <a:rPr sz="1150" b="0">
                <a:solidFill>
                  <a:srgbClr val="52514E"/>
                </a:solidFill>
                <a:latin typeface="Segoe UI"/>
              </a:rPr>
              <a:t>-  Launch the executive dashboard with monthly refresh.</a:t>
            </a:r>
          </a:p>
          <a:p>
            <a:pPr algn="l">
              <a:spcAft>
                <a:spcPts val="600"/>
              </a:spcAft>
            </a:pPr>
            <a:r>
              <a:rPr sz="1150" b="0">
                <a:solidFill>
                  <a:srgbClr val="52514E"/>
                </a:solidFill>
                <a:latin typeface="Segoe UI"/>
              </a:rPr>
              <a:t>-  Begin engineering reviews of the top 10 priority substations.</a:t>
            </a:r>
          </a:p>
        </p:txBody>
      </p:sp>
      <p:sp>
        <p:nvSpPr>
          <p:cNvPr id="6" name="Rectangle 5"/>
          <p:cNvSpPr/>
          <p:nvPr/>
        </p:nvSpPr>
        <p:spPr>
          <a:xfrm>
            <a:off x="4480560" y="1783080"/>
            <a:ext cx="3657600" cy="5715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965960"/>
            <a:ext cx="3657600" cy="4480560"/>
          </a:xfrm>
          <a:prstGeom prst="rect">
            <a:avLst/>
          </a:prstGeom>
          <a:noFill/>
        </p:spPr>
        <p:txBody>
          <a:bodyPr wrap="square">
            <a:spAutoFit/>
          </a:bodyPr>
          <a:lstStyle/>
          <a:p>
            <a:pPr algn="l">
              <a:spcAft>
                <a:spcPts val="800"/>
              </a:spcAft>
            </a:pPr>
            <a:r>
              <a:rPr sz="1500" b="1">
                <a:solidFill>
                  <a:srgbClr val="0B0B0B"/>
                </a:solidFill>
                <a:latin typeface="Segoe UI"/>
              </a:rPr>
              <a:t>Medium term  (1-3 years)</a:t>
            </a:r>
          </a:p>
          <a:p>
            <a:pPr algn="l">
              <a:spcAft>
                <a:spcPts val="600"/>
              </a:spcAft>
            </a:pPr>
            <a:r>
              <a:rPr sz="1150" b="0">
                <a:solidFill>
                  <a:srgbClr val="52514E"/>
                </a:solidFill>
                <a:latin typeface="Segoe UI"/>
              </a:rPr>
              <a:t>-  Execute upgrades on the first wave of critical substations (North and West first).</a:t>
            </a:r>
          </a:p>
          <a:p>
            <a:pPr algn="l">
              <a:spcAft>
                <a:spcPts val="600"/>
              </a:spcAft>
            </a:pPr>
            <a:r>
              <a:rPr sz="1150" b="0">
                <a:solidFill>
                  <a:srgbClr val="52514E"/>
                </a:solidFill>
                <a:latin typeface="Segoe UI"/>
              </a:rPr>
              <a:t>-  Automate DR triggering from the peak-warning forecast.</a:t>
            </a:r>
          </a:p>
          <a:p>
            <a:pPr algn="l">
              <a:spcAft>
                <a:spcPts val="600"/>
              </a:spcAft>
            </a:pPr>
            <a:r>
              <a:rPr sz="1150" b="0">
                <a:solidFill>
                  <a:srgbClr val="52514E"/>
                </a:solidFill>
                <a:latin typeface="Segoe UI"/>
              </a:rPr>
              <a:t>-  Retire or redesign chronically inefficient DR events; reinvest savings.</a:t>
            </a:r>
          </a:p>
          <a:p>
            <a:pPr algn="l">
              <a:spcAft>
                <a:spcPts val="600"/>
              </a:spcAft>
            </a:pPr>
            <a:r>
              <a:rPr sz="1150" b="0">
                <a:solidFill>
                  <a:srgbClr val="52514E"/>
                </a:solidFill>
                <a:latin typeface="Segoe UI"/>
              </a:rPr>
              <a:t>-  Extend condition monitoring across the elevated tier.</a:t>
            </a:r>
          </a:p>
        </p:txBody>
      </p:sp>
      <p:sp>
        <p:nvSpPr>
          <p:cNvPr id="8" name="Rectangle 7"/>
          <p:cNvSpPr/>
          <p:nvPr/>
        </p:nvSpPr>
        <p:spPr>
          <a:xfrm>
            <a:off x="8366760" y="1783080"/>
            <a:ext cx="3657600" cy="5715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965960"/>
            <a:ext cx="3657600" cy="4480560"/>
          </a:xfrm>
          <a:prstGeom prst="rect">
            <a:avLst/>
          </a:prstGeom>
          <a:noFill/>
        </p:spPr>
        <p:txBody>
          <a:bodyPr wrap="square">
            <a:spAutoFit/>
          </a:bodyPr>
          <a:lstStyle/>
          <a:p>
            <a:pPr algn="l">
              <a:spcAft>
                <a:spcPts val="800"/>
              </a:spcAft>
            </a:pPr>
            <a:r>
              <a:rPr sz="1500" b="1">
                <a:solidFill>
                  <a:srgbClr val="0B0B0B"/>
                </a:solidFill>
                <a:latin typeface="Segoe UI"/>
              </a:rPr>
              <a:t>Long term  (3-5 years)</a:t>
            </a:r>
          </a:p>
          <a:p>
            <a:pPr algn="l">
              <a:spcAft>
                <a:spcPts val="600"/>
              </a:spcAft>
            </a:pPr>
            <a:r>
              <a:rPr sz="1150" b="0">
                <a:solidFill>
                  <a:srgbClr val="52514E"/>
                </a:solidFill>
                <a:latin typeface="Segoe UI"/>
              </a:rPr>
              <a:t>-  Complete the 31-substation critical program.</a:t>
            </a:r>
          </a:p>
          <a:p>
            <a:pPr algn="l">
              <a:spcAft>
                <a:spcPts val="600"/>
              </a:spcAft>
            </a:pPr>
            <a:r>
              <a:rPr sz="1150" b="0">
                <a:solidFill>
                  <a:srgbClr val="52514E"/>
                </a:solidFill>
                <a:latin typeface="Segoe UI"/>
              </a:rPr>
              <a:t>-  Re-score the fleet annually; refresh the priority list as growth shifts.</a:t>
            </a:r>
          </a:p>
          <a:p>
            <a:pPr algn="l">
              <a:spcAft>
                <a:spcPts val="600"/>
              </a:spcAft>
            </a:pPr>
            <a:r>
              <a:rPr sz="1150" b="0">
                <a:solidFill>
                  <a:srgbClr val="52514E"/>
                </a:solidFill>
                <a:latin typeface="Segoe UI"/>
              </a:rPr>
              <a:t>-  Fold electrification and growth scenarios into segment-load forecasting.</a:t>
            </a:r>
          </a:p>
          <a:p>
            <a:pPr algn="l">
              <a:spcAft>
                <a:spcPts val="600"/>
              </a:spcAft>
            </a:pPr>
            <a:r>
              <a:rPr sz="1150" b="0">
                <a:solidFill>
                  <a:srgbClr val="52514E"/>
                </a:solidFill>
                <a:latin typeface="Segoe UI"/>
              </a:rPr>
              <a:t>-  Revisit deferred assets as budgets free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1463040"/>
            <a:ext cx="10515600" cy="4389120"/>
          </a:xfrm>
          <a:prstGeom prst="rect">
            <a:avLst/>
          </a:prstGeom>
          <a:noFill/>
        </p:spPr>
        <p:txBody>
          <a:bodyPr wrap="square">
            <a:spAutoFit/>
          </a:bodyPr>
          <a:lstStyle/>
          <a:p>
            <a:pPr algn="l">
              <a:spcAft>
                <a:spcPts val="1400"/>
              </a:spcAft>
            </a:pPr>
            <a:r>
              <a:rPr sz="1300" b="1">
                <a:solidFill>
                  <a:srgbClr val="2A78D6"/>
                </a:solidFill>
                <a:latin typeface="Segoe UI"/>
              </a:rPr>
              <a:t>THE BOARD'S QUESTION, ANSWERED</a:t>
            </a:r>
          </a:p>
          <a:p>
            <a:pPr algn="l">
              <a:spcAft>
                <a:spcPts val="1600"/>
              </a:spcAft>
            </a:pPr>
            <a:r>
              <a:rPr sz="2000" b="1">
                <a:solidFill>
                  <a:srgbClr val="0B0B0B"/>
                </a:solidFill>
                <a:latin typeface="Segoe UI"/>
              </a:rPr>
              <a:t>How can NorthGrid use forecasting, infrastructure planning, and demand response intelligence to improve reliability, optimize capital, and create measurable value?</a:t>
            </a:r>
          </a:p>
          <a:p>
            <a:pPr algn="l">
              <a:spcAft>
                <a:spcPts val="1000"/>
              </a:spcAft>
            </a:pPr>
            <a:r>
              <a:rPr sz="1500" b="0">
                <a:solidFill>
                  <a:srgbClr val="52514E"/>
                </a:solidFill>
                <a:latin typeface="Segoe UI"/>
              </a:rPr>
              <a:t>By listening to what your own data says: demand volatility is a customer-load story, not a weather story. Fix how demand response events are executed and $98.5M comes back from money already being spent. Point capital at the 31 substations that actually carry the risk and defer the spending that can wait. Forecast from customer segments and peak events stop being surprises.</a:t>
            </a:r>
          </a:p>
          <a:p>
            <a:pPr algn="l">
              <a:spcAft>
                <a:spcPts val="1800"/>
              </a:spcAft>
            </a:pPr>
            <a:r>
              <a:rPr sz="1500" b="1">
                <a:solidFill>
                  <a:srgbClr val="0B0B0B"/>
                </a:solidFill>
                <a:latin typeface="Segoe UI"/>
              </a:rPr>
              <a:t>Expected value: $45.8M per year against about $5M per year to run - with payback in under a year.</a:t>
            </a:r>
          </a:p>
          <a:p>
            <a:pPr algn="l">
              <a:spcAft>
                <a:spcPts val="600"/>
              </a:spcAft>
            </a:pPr>
            <a:r>
              <a:rPr sz="1300" b="0">
                <a:solidFill>
                  <a:srgbClr val="898781"/>
                </a:solidFill>
                <a:latin typeface="Segoe UI"/>
              </a:rPr>
              <a:t>Thank you  -  Questions welcome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1064240" cy="1188720"/>
          </a:xfrm>
          <a:prstGeom prst="rect">
            <a:avLst/>
          </a:prstGeom>
          <a:noFill/>
        </p:spPr>
        <p:txBody>
          <a:bodyPr wrap="square">
            <a:spAutoFit/>
          </a:bodyPr>
          <a:lstStyle/>
          <a:p>
            <a:pPr algn="l">
              <a:spcAft>
                <a:spcPts val="200"/>
              </a:spcAft>
            </a:pPr>
            <a:r>
              <a:rPr sz="1200" b="1">
                <a:solidFill>
                  <a:srgbClr val="898781"/>
                </a:solidFill>
                <a:latin typeface="Segoe UI"/>
              </a:rPr>
              <a:t>APPENDIX</a:t>
            </a:r>
          </a:p>
          <a:p>
            <a:pPr algn="l">
              <a:spcAft>
                <a:spcPts val="600"/>
              </a:spcAft>
            </a:pPr>
            <a:r>
              <a:rPr sz="2600" b="1">
                <a:solidFill>
                  <a:srgbClr val="0B0B0B"/>
                </a:solidFill>
                <a:latin typeface="Segoe UI"/>
              </a:rPr>
              <a:t>For the technically curious (backup)</a:t>
            </a:r>
          </a:p>
        </p:txBody>
      </p:sp>
      <p:sp>
        <p:nvSpPr>
          <p:cNvPr id="3" name="Rectangle 2"/>
          <p:cNvSpPr/>
          <p:nvPr/>
        </p:nvSpPr>
        <p:spPr>
          <a:xfrm>
            <a:off x="594360" y="1389888"/>
            <a:ext cx="1463040" cy="28575"/>
          </a:xfrm>
          <a:prstGeom prst="rect">
            <a:avLst/>
          </a:prstGeom>
          <a:solidFill>
            <a:srgbClr val="8987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783080"/>
            <a:ext cx="10881360" cy="4572000"/>
          </a:xfrm>
          <a:prstGeom prst="rect">
            <a:avLst/>
          </a:prstGeom>
          <a:noFill/>
        </p:spPr>
        <p:txBody>
          <a:bodyPr wrap="square">
            <a:spAutoFit/>
          </a:bodyPr>
          <a:lstStyle/>
          <a:p>
            <a:pPr algn="l">
              <a:spcAft>
                <a:spcPts val="200"/>
              </a:spcAft>
            </a:pPr>
            <a:r>
              <a:rPr sz="1400" b="1">
                <a:solidFill>
                  <a:srgbClr val="0B0B0B"/>
                </a:solidFill>
                <a:latin typeface="Segoe UI"/>
              </a:rPr>
              <a:t>Model evaluation</a:t>
            </a:r>
          </a:p>
          <a:p>
            <a:pPr algn="l">
              <a:spcAft>
                <a:spcPts val="1000"/>
              </a:spcAft>
            </a:pPr>
            <a:r>
              <a:rPr sz="1300" b="0">
                <a:solidFill>
                  <a:srgbClr val="52514E"/>
                </a:solidFill>
                <a:latin typeface="Segoe UI"/>
              </a:rPr>
              <a:t>Time-based hold-out test (most recent 20% of hours). Current NGES forecast: MAE 24.0 MW, R-squared 0.956. Weather/calendar-only model: MAE 113 MW, R-squared ~0 (no signal). Segment-load linear model: MAE 19.9 MW, R-squared 0.969 - selected for accuracy plus explainability. Random forest: MAE ~24 MW (no improvement over the simple linear model).</a:t>
            </a:r>
          </a:p>
          <a:p>
            <a:pPr algn="l">
              <a:spcAft>
                <a:spcPts val="200"/>
              </a:spcAft>
            </a:pPr>
            <a:r>
              <a:rPr sz="1400" b="1">
                <a:solidFill>
                  <a:srgbClr val="0B0B0B"/>
                </a:solidFill>
                <a:latin typeface="Segoe UI"/>
              </a:rPr>
              <a:t>Peak events</a:t>
            </a:r>
          </a:p>
          <a:p>
            <a:pPr algn="l">
              <a:spcAft>
                <a:spcPts val="1000"/>
              </a:spcAft>
            </a:pPr>
            <a:r>
              <a:rPr sz="1300" b="0">
                <a:solidFill>
                  <a:srgbClr val="52514E"/>
                </a:solidFill>
                <a:latin typeface="Segoe UI"/>
              </a:rPr>
              <a:t>Defined in the data as the top 10% of hourly demand (threshold ~929 MW; peak hours average 997 MW vs 723 MW otherwise).</a:t>
            </a:r>
          </a:p>
          <a:p>
            <a:pPr algn="l">
              <a:spcAft>
                <a:spcPts val="200"/>
              </a:spcAft>
            </a:pPr>
            <a:r>
              <a:rPr sz="1400" b="1">
                <a:solidFill>
                  <a:srgbClr val="0B0B0B"/>
                </a:solidFill>
                <a:latin typeface="Segoe UI"/>
              </a:rPr>
              <a:t>Key assumptions</a:t>
            </a:r>
          </a:p>
          <a:p>
            <a:pPr algn="l">
              <a:spcAft>
                <a:spcPts val="1000"/>
              </a:spcAft>
            </a:pPr>
            <a:r>
              <a:rPr sz="1300" b="0">
                <a:solidFill>
                  <a:srgbClr val="52514E"/>
                </a:solidFill>
                <a:latin typeface="Segoe UI"/>
              </a:rPr>
              <a:t>Annualization over the 2.83-year data window; 7-8% cost of capital on deferrals; $100-200/MWh emergency power premium; DR savings priced at the program's own median of $330/MW.</a:t>
            </a:r>
          </a:p>
          <a:p>
            <a:pPr algn="l">
              <a:spcAft>
                <a:spcPts val="200"/>
              </a:spcAft>
            </a:pPr>
            <a:r>
              <a:rPr sz="1400" b="1">
                <a:solidFill>
                  <a:srgbClr val="0B0B0B"/>
                </a:solidFill>
                <a:latin typeface="Segoe UI"/>
              </a:rPr>
              <a:t>Data limitations</a:t>
            </a:r>
          </a:p>
          <a:p>
            <a:pPr algn="l">
              <a:spcAft>
                <a:spcPts val="1000"/>
              </a:spcAft>
            </a:pPr>
            <a:r>
              <a:rPr sz="1300" b="0">
                <a:solidFill>
                  <a:srgbClr val="52514E"/>
                </a:solidFill>
                <a:latin typeface="Segoe UI"/>
              </a:rPr>
              <a:t>~2% missing weather/forecast values (median-imputed); impossible humidity readings (audit recommended); demand-file substations do not join to the infrastructure file, so integration is regional, not asset-level.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